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retendard Bold"/>
      <p:bold r:id="rId18"/>
    </p:embeddedFont>
    <p:embeddedFont>
      <p:font typeface="Pretendard Regular"/>
      <p:regular r:id="rId19"/>
    </p:embeddedFont>
    <p:embeddedFont>
      <p:font typeface="Pretendard Light"/>
      <p:regular r:id="rId20"/>
    </p:embeddedFont>
    <p:embeddedFont>
      <p:font typeface="Pretendard Medium"/>
      <p:bold r:id="rId21"/>
    </p:embeddedFont>
    <p:embeddedFont>
      <p:font typeface="Pretendard SemiBold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.fntdata" Type="http://schemas.openxmlformats.org/officeDocument/2006/relationships/font"/><Relationship Id="rId19" Target="fonts/font2.fntdata" Type="http://schemas.openxmlformats.org/officeDocument/2006/relationships/font"/><Relationship Id="rId2" Target="presProps.xml" Type="http://schemas.openxmlformats.org/officeDocument/2006/relationships/presProps"/><Relationship Id="rId20" Target="fonts/font3.fntdata" Type="http://schemas.openxmlformats.org/officeDocument/2006/relationships/font"/><Relationship Id="rId21" Target="fonts/font4.fntdata" Type="http://schemas.openxmlformats.org/officeDocument/2006/relationships/font"/><Relationship Id="rId22" Target="fonts/font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4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4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4600" y="3352800"/>
            <a:ext cx="15671800" cy="287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8700" b="false" i="false" u="none" strike="noStrike">
                <a:solidFill>
                  <a:srgbClr val="0063BA"/>
                </a:solidFill>
                <a:latin typeface="Pretendard Bold"/>
              </a:rPr>
              <a:t>YOLO11 </a:t>
            </a:r>
            <a:r>
              <a:rPr lang="ko-KR" sz="8700" b="false" i="false" u="none" strike="noStrike">
                <a:solidFill>
                  <a:srgbClr val="0063BA"/>
                </a:solidFill>
                <a:ea typeface="Pretendard Bold"/>
              </a:rPr>
              <a:t>포즈</a:t>
            </a:r>
            <a:r>
              <a:rPr lang="en-US" sz="87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8700" b="false" i="false" u="none" strike="noStrike">
                <a:solidFill>
                  <a:srgbClr val="0063BA"/>
                </a:solidFill>
                <a:ea typeface="Pretendard Bold"/>
              </a:rPr>
              <a:t>모델을</a:t>
            </a:r>
            <a:r>
              <a:rPr lang="en-US" sz="87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8700" b="false" i="false" u="none" strike="noStrike">
                <a:solidFill>
                  <a:srgbClr val="0063BA"/>
                </a:solidFill>
                <a:ea typeface="Pretendard Bold"/>
              </a:rPr>
              <a:t>활용한</a:t>
            </a:r>
            <a:r>
              <a:rPr lang="en-US" sz="87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8700" b="false" i="false" u="none" strike="noStrike">
                <a:solidFill>
                  <a:srgbClr val="0063BA"/>
                </a:solidFill>
                <a:ea typeface="Pretendard Bold"/>
              </a:rPr>
              <a:t>다중</a:t>
            </a:r>
            <a:r>
              <a:rPr lang="en-US" sz="87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8700" b="false" i="false" u="none" strike="noStrike">
                <a:solidFill>
                  <a:srgbClr val="0063BA"/>
                </a:solidFill>
                <a:ea typeface="Pretendard Bold"/>
              </a:rPr>
              <a:t>사람</a:t>
            </a:r>
            <a:r>
              <a:rPr lang="en-US" sz="87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8700" b="false" i="false" u="none" strike="noStrike">
                <a:solidFill>
                  <a:srgbClr val="0063BA"/>
                </a:solidFill>
                <a:ea typeface="Pretendard Bold"/>
              </a:rPr>
              <a:t>추적</a:t>
            </a:r>
            <a:r>
              <a:rPr lang="en-US" sz="87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8700" b="false" i="false" u="none" strike="noStrike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87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8700" b="false" i="false" u="none" strike="noStrike">
                <a:solidFill>
                  <a:srgbClr val="0063BA"/>
                </a:solidFill>
                <a:ea typeface="Pretendard Bold"/>
              </a:rPr>
              <a:t>재식별</a:t>
            </a:r>
            <a:r>
              <a:rPr lang="en-US" sz="8700" b="false" i="false" u="none" strike="noStrike">
                <a:solidFill>
                  <a:srgbClr val="0063BA"/>
                </a:solidFill>
                <a:latin typeface="Pretendard Bold"/>
              </a:rPr>
              <a:t>(Re-ID) </a:t>
            </a:r>
            <a:r>
              <a:rPr lang="ko-KR" sz="8700" b="false" i="false" u="none" strike="noStrike">
                <a:solidFill>
                  <a:srgbClr val="0063BA"/>
                </a:solidFill>
                <a:ea typeface="Pretendard Bold"/>
              </a:rPr>
              <a:t>시스템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20800" y="6515100"/>
            <a:ext cx="155067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컴퓨터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비전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기술의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최신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응용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33147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14700" y="0"/>
            <a:ext cx="14973300" cy="317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85800" y="9588500"/>
            <a:ext cx="169037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3314700" cy="317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14700" y="0"/>
            <a:ext cx="14973300" cy="3175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85800" y="825500"/>
            <a:ext cx="170307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목차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0200" y="4673600"/>
            <a:ext cx="4546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YOLO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알고리즘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발전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포즈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추정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기능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주요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특징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성능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기존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모델과의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차이점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0200" y="3797300"/>
            <a:ext cx="45593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63BA"/>
                </a:solidFill>
                <a:latin typeface="Pretendard Bold"/>
              </a:rPr>
              <a:t>YOLO11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포즈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모델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개요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6000" y="3797300"/>
            <a:ext cx="5207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AACBE9"/>
                </a:solidFill>
                <a:latin typeface="Pretendard Medium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88200" y="4673600"/>
            <a:ext cx="4546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다중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객체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추적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(MOT)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개념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실시간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추적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알고리즘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추적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과정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문제점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YOLO11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활용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방안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88200" y="3797300"/>
            <a:ext cx="45593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다중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사람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추적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기술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0" y="3797300"/>
            <a:ext cx="5207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AACBE9"/>
                </a:solidFill>
                <a:latin typeface="Pretendard Medium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88900" y="4673600"/>
            <a:ext cx="4546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재식별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기술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정의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특징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추출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매칭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성능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평가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지표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딥러닝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기반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접근법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88900" y="3797300"/>
            <a:ext cx="45593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재식별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Bold"/>
              </a:rPr>
              <a:t>(Re-ID)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시스템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04700" y="3797300"/>
            <a:ext cx="5207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AACBE9"/>
                </a:solidFill>
                <a:latin typeface="Pretendard Medium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0200" y="7658100"/>
            <a:ext cx="4546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통합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아키텍처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설계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실시간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처리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최적화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데이터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흐름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연동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시스템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장점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0200" y="6794500"/>
            <a:ext cx="45593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통합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시스템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설계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6000" y="6794500"/>
            <a:ext cx="5207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AACBE9"/>
                </a:solidFill>
                <a:latin typeface="Pretendard Medium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88200" y="7658100"/>
            <a:ext cx="4546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평가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지표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방법론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실시간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처리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속도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다양한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환경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테스트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기존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시스템과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비교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88200" y="6794500"/>
            <a:ext cx="45593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성능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평가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분석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04000" y="6794500"/>
            <a:ext cx="5207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AACBE9"/>
                </a:solidFill>
                <a:latin typeface="Pretendard Medium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88900" y="7658100"/>
            <a:ext cx="4546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보안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감시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시스템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스마트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리테일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분석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스포츠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경기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분석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향후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연구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Light"/>
              </a:rPr>
              <a:t>방향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88900" y="6794500"/>
            <a:ext cx="45593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응용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사례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Bold"/>
              </a:rPr>
              <a:t>전망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04700" y="6794500"/>
            <a:ext cx="5207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AACBE9"/>
                </a:solidFill>
                <a:latin typeface="Pretendard Medium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3314700" cy="317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14700" y="0"/>
            <a:ext cx="14973300" cy="317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1206500"/>
            <a:ext cx="143002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9804400"/>
            <a:ext cx="143002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98500" y="1244600"/>
            <a:ext cx="2476500" cy="200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YOLO11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포즈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모델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개요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14700" y="2209800"/>
            <a:ext cx="6908800" cy="3187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718800" y="2209800"/>
            <a:ext cx="6908800" cy="3187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657600" y="2552700"/>
            <a:ext cx="62230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100" b="false" i="false" u="none" strike="noStrike">
                <a:solidFill>
                  <a:srgbClr val="0063BA"/>
                </a:solidFill>
                <a:latin typeface="Pretendard SemiBold"/>
              </a:rPr>
              <a:t>YOLO </a:t>
            </a:r>
            <a:r>
              <a:rPr lang="ko-KR" sz="3100" b="false" i="false" u="none" strike="noStrike">
                <a:solidFill>
                  <a:srgbClr val="0063BA"/>
                </a:solidFill>
                <a:ea typeface="Pretendard SemiBold"/>
              </a:rPr>
              <a:t>알고리즘</a:t>
            </a:r>
            <a:r>
              <a:rPr lang="en-US" sz="31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63BA"/>
                </a:solidFill>
                <a:ea typeface="Pretendard SemiBold"/>
              </a:rPr>
              <a:t>발전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70300" y="3441700"/>
            <a:ext cx="6197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YOLO(You Only Look Once)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진화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단일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단계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탐지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방식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유지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버전별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성능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속도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향상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YOLO11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아키텍처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개선점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61700" y="2552700"/>
            <a:ext cx="62230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100" b="false" i="false" u="none" strike="noStrike">
                <a:solidFill>
                  <a:srgbClr val="0063BA"/>
                </a:solidFill>
                <a:ea typeface="Pretendard SemiBold"/>
              </a:rPr>
              <a:t>주요</a:t>
            </a:r>
            <a:r>
              <a:rPr lang="en-US" sz="31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63BA"/>
                </a:solidFill>
                <a:ea typeface="Pretendard SemiBold"/>
              </a:rPr>
              <a:t>특징</a:t>
            </a:r>
            <a:r>
              <a:rPr lang="en-US" sz="31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63BA"/>
                </a:solidFill>
                <a:ea typeface="Pretendard SemiBold"/>
              </a:rPr>
              <a:t>및</a:t>
            </a:r>
            <a:r>
              <a:rPr lang="en-US" sz="31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63BA"/>
                </a:solidFill>
                <a:ea typeface="Pretendard SemiBold"/>
              </a:rPr>
              <a:t>성능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74400" y="3441700"/>
            <a:ext cx="6197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가능한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경량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높은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정확도와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빠른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추론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속도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크기의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탐지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능력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키포인트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탐지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특화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기능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14700" y="5854700"/>
            <a:ext cx="6908800" cy="3187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18800" y="5854700"/>
            <a:ext cx="6908800" cy="3187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3657600" y="6197600"/>
            <a:ext cx="62230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100" b="false" i="false" u="none" strike="noStrike">
                <a:solidFill>
                  <a:srgbClr val="000000"/>
                </a:solidFill>
                <a:ea typeface="Pretendard SemiBold"/>
              </a:rPr>
              <a:t>포즈</a:t>
            </a:r>
            <a:r>
              <a:rPr lang="en-US" sz="31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0000"/>
                </a:solidFill>
                <a:ea typeface="Pretendard SemiBold"/>
              </a:rPr>
              <a:t>추정</a:t>
            </a:r>
            <a:r>
              <a:rPr lang="en-US" sz="31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0000"/>
                </a:solidFill>
                <a:ea typeface="Pretendard SemiBold"/>
              </a:rPr>
              <a:t>기능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70300" y="7086600"/>
            <a:ext cx="6197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인체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키포인트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17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이상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탐지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관절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자세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추출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다중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인물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동시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추정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복잡한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환경에서도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안정적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성능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61700" y="6197600"/>
            <a:ext cx="62230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100" b="false" i="false" u="none" strike="noStrike">
                <a:solidFill>
                  <a:srgbClr val="000000"/>
                </a:solidFill>
                <a:ea typeface="Pretendard SemiBold"/>
              </a:rPr>
              <a:t>기존</a:t>
            </a:r>
            <a:r>
              <a:rPr lang="en-US" sz="31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0000"/>
                </a:solidFill>
                <a:ea typeface="Pretendard SemiBold"/>
              </a:rPr>
              <a:t>모델과의</a:t>
            </a:r>
            <a:r>
              <a:rPr lang="en-US" sz="31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0000"/>
                </a:solidFill>
                <a:ea typeface="Pretendard SemiBold"/>
              </a:rPr>
              <a:t>차이점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74400" y="7086600"/>
            <a:ext cx="6197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기존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탐지와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추정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통합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적은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연산으로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높은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정확도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엣지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디바이스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최적화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적응성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향상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3314700" cy="317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14700" y="0"/>
            <a:ext cx="14973300" cy="317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9804400"/>
            <a:ext cx="143002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85800" y="825500"/>
            <a:ext cx="170307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다중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사람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추적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기술의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이해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33400" y="2311400"/>
            <a:ext cx="4051300" cy="787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08000" y="3467100"/>
            <a:ext cx="4114800" cy="273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다중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(MOT)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여러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대상을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동시에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식별하고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대상에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고유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ID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할당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유지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프레임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연관성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분석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시간에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따른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위치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변화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처리가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요구사항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3400" y="3098800"/>
            <a:ext cx="4064000" cy="12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673100" y="2476500"/>
            <a:ext cx="37846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MOT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기본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개념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09100" y="2311400"/>
            <a:ext cx="4051300" cy="787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9283700" y="3467100"/>
            <a:ext cx="4114800" cy="195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가림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(Occlusion)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현상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ID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스위칭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문제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해결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방안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조명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시점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변화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대응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복잡한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배경에서의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정확도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속도와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정확도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균형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09100" y="3098800"/>
            <a:ext cx="4064000" cy="12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9448800" y="2476500"/>
            <a:ext cx="37846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문제점과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해결책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690600" y="2311400"/>
            <a:ext cx="4051300" cy="7874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3665200" y="3467100"/>
            <a:ext cx="4114800" cy="195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YOLO11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빠른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탐지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속도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활용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정보를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활용한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강화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키포인트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구분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개선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가림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현상에서도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안정적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엣지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디바이스에서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690600" y="3098800"/>
            <a:ext cx="4064000" cy="12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3830300" y="2476500"/>
            <a:ext cx="37846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YOLO11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활용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방안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927600" y="2311400"/>
            <a:ext cx="4051300" cy="787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4902200" y="3467100"/>
            <a:ext cx="4114800" cy="273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DeepSORT: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외관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특징과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움직임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결합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칼만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필터로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위치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예측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헝가리안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알고리즘으로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매칭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딥러닝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특징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추출로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정확도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향상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처리를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위한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최적화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기법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927600" y="3098800"/>
            <a:ext cx="4051300" cy="127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5067300" y="2476500"/>
            <a:ext cx="37846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추적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알고리즘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927600" y="2311400"/>
            <a:ext cx="4064000" cy="12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3400" y="2311400"/>
            <a:ext cx="4064000" cy="12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09100" y="2311400"/>
            <a:ext cx="4064000" cy="12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690600" y="2311400"/>
            <a:ext cx="4064000" cy="12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927600" y="6159500"/>
            <a:ext cx="4064000" cy="12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3400" y="6146800"/>
            <a:ext cx="4064000" cy="12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09100" y="6134100"/>
            <a:ext cx="4051300" cy="12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690600" y="6159500"/>
            <a:ext cx="4064000" cy="127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98500" y="6642100"/>
            <a:ext cx="16878300" cy="26924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104900" y="7175500"/>
            <a:ext cx="16078200" cy="162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다중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사람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추적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기술은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여러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사람을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동시에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식별하고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추적하는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기술로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, YOLO11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포즈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모델과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결합하여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더욱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강력한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성능을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발휘합니다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.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포즈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정보를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활용함으로써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가림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현상이나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복잡한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환경에서도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안정적인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추적이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가능하며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,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실시간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처리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능력을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갖추고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있습니다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3314700" cy="317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14700" y="0"/>
            <a:ext cx="14973300" cy="317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9804400"/>
            <a:ext cx="143002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85800" y="825500"/>
            <a:ext cx="170307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재식별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(Re-ID)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시스템의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원리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48400" y="3073400"/>
            <a:ext cx="11163300" cy="876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27100" y="3073400"/>
            <a:ext cx="5397500" cy="876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231900" y="3251200"/>
            <a:ext cx="48006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재식별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기술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정의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29400" y="3289300"/>
            <a:ext cx="10591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서로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다른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카메라에서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동일인물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재식별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기술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48400" y="4368800"/>
            <a:ext cx="11163300" cy="876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27100" y="4368800"/>
            <a:ext cx="5397500" cy="876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231900" y="4546600"/>
            <a:ext cx="48006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특징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추출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방법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29400" y="4584700"/>
            <a:ext cx="10591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외형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색상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특징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벡터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추출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73800" y="5664200"/>
            <a:ext cx="11163300" cy="876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5664200"/>
            <a:ext cx="5397500" cy="8763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257300" y="5829300"/>
            <a:ext cx="48006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매칭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알고리즘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54800" y="5880100"/>
            <a:ext cx="10591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유사도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측정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랭킹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매칭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알고리즘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활용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73800" y="6959600"/>
            <a:ext cx="11163300" cy="876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6959600"/>
            <a:ext cx="5397500" cy="8763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257300" y="7124700"/>
            <a:ext cx="48006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성능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평가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지표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54800" y="7175500"/>
            <a:ext cx="10591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- mAP, CMC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곡선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Rank-1/5/10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정확도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사용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73800" y="8255000"/>
            <a:ext cx="11163300" cy="876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8255000"/>
            <a:ext cx="5397500" cy="8763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257300" y="8420100"/>
            <a:ext cx="48006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딥러닝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기반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접근법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54800" y="8470900"/>
            <a:ext cx="10591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- CNN, Siamese Network, Triplet Loss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활용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314700" y="2476500"/>
            <a:ext cx="14300200" cy="1498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8128000" y="4241800"/>
            <a:ext cx="9525000" cy="1168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YOLO11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탐지기와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Re-ID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특징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추출기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파이프라인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구성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키포인트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정보를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Re-ID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특징과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결합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분산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병렬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연산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최적화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02000" y="4635500"/>
            <a:ext cx="4635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통합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아키텍처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설계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3314700" cy="317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0"/>
            <a:ext cx="14973300" cy="317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14700" y="1206500"/>
            <a:ext cx="143002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14700" y="2451100"/>
            <a:ext cx="143002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14700" y="3975100"/>
            <a:ext cx="143002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14700" y="5664200"/>
            <a:ext cx="143002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14700" y="9804400"/>
            <a:ext cx="14300200" cy="12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581400" y="2794000"/>
            <a:ext cx="13766800" cy="838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YOLO11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포즈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모델과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재식별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(Re-ID)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시스템의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통합은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다중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카메라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환경에서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사람을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지속적으로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추적하고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식별하는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강력한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솔루션을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제공합니다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.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포즈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정보를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활용한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특징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추출로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재식별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정확도가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향상되며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실시간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처리가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가능합니다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28000" y="5930900"/>
            <a:ext cx="9525000" cy="1168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모델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경량화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양자화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기법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적용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배치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처리로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GPU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활용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효율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극대화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엣지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컴퓨팅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분산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아키텍처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02000" y="6311900"/>
            <a:ext cx="4635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실시간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처리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최적화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14700" y="7340600"/>
            <a:ext cx="14300200" cy="12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8128000" y="7620000"/>
            <a:ext cx="9525000" cy="1168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활용으로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재식별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정확도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향상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가림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현상에서도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안정적인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성능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조명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조건에서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강건성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확보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02000" y="8001000"/>
            <a:ext cx="4635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시스템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장점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14700" y="9042400"/>
            <a:ext cx="14300200" cy="127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698500" y="1244600"/>
            <a:ext cx="2476500" cy="138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통합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시스템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3314700" cy="317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14700" y="0"/>
            <a:ext cx="14973300" cy="317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1206500"/>
            <a:ext cx="143002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9804400"/>
            <a:ext cx="143002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98500" y="1244600"/>
            <a:ext cx="2476500" cy="200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데이터셋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구성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전처리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예정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14700" y="2209800"/>
            <a:ext cx="6908800" cy="3187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718800" y="2209800"/>
            <a:ext cx="6908800" cy="3187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657600" y="2552700"/>
            <a:ext cx="62230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100" b="false" i="false" u="none" strike="noStrike">
                <a:solidFill>
                  <a:srgbClr val="0063BA"/>
                </a:solidFill>
                <a:ea typeface="Pretendard SemiBold"/>
              </a:rPr>
              <a:t>데이터</a:t>
            </a:r>
            <a:r>
              <a:rPr lang="en-US" sz="31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63BA"/>
                </a:solidFill>
                <a:ea typeface="Pretendard SemiBold"/>
              </a:rPr>
              <a:t>수집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70300" y="3441700"/>
            <a:ext cx="6197600" cy="195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실내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실외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조명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조건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)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에서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촬영된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사람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이미지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다중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카메라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각도에서의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동일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인물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데이터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포즈와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겹침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상황이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포함된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영상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공개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데이터셋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(COCO, Market-1501)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활용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61700" y="2552700"/>
            <a:ext cx="62230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100" b="false" i="false" u="none" strike="noStrike">
                <a:solidFill>
                  <a:srgbClr val="0063BA"/>
                </a:solidFill>
                <a:ea typeface="Pretendard SemiBold"/>
              </a:rPr>
              <a:t>데이터</a:t>
            </a:r>
            <a:r>
              <a:rPr lang="en-US" sz="31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63BA"/>
                </a:solidFill>
                <a:ea typeface="Pretendard SemiBold"/>
              </a:rPr>
              <a:t>증강</a:t>
            </a:r>
            <a:r>
              <a:rPr lang="en-US" sz="31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63BA"/>
                </a:solidFill>
                <a:ea typeface="Pretendard SemiBold"/>
              </a:rPr>
              <a:t>기법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74400" y="3441700"/>
            <a:ext cx="6197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회전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반전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크롭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기하학적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변환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색상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조정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노이즈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추가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배경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합성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기법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모션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블러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적용으로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시뮬레이션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14700" y="5854700"/>
            <a:ext cx="6908800" cy="3187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18800" y="5854700"/>
            <a:ext cx="6908800" cy="3187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3657600" y="6197600"/>
            <a:ext cx="62230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100" b="false" i="false" u="none" strike="noStrike">
                <a:solidFill>
                  <a:srgbClr val="000000"/>
                </a:solidFill>
                <a:ea typeface="Pretendard SemiBold"/>
              </a:rPr>
              <a:t>라벨링</a:t>
            </a:r>
            <a:r>
              <a:rPr lang="en-US" sz="31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0000"/>
                </a:solidFill>
                <a:ea typeface="Pretendard SemiBold"/>
              </a:rPr>
              <a:t>방법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70300" y="7086600"/>
            <a:ext cx="6197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키포인트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어노테이션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관절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17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위치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표시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바운딩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박스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개인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ID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라벨링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반자동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라벨링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도구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활용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크로스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체크를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통한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라벨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품질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검증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61700" y="6197600"/>
            <a:ext cx="62230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100" b="false" i="false" u="none" strike="noStrike">
                <a:solidFill>
                  <a:srgbClr val="000000"/>
                </a:solidFill>
                <a:ea typeface="Pretendard SemiBold"/>
              </a:rPr>
              <a:t>데이터</a:t>
            </a:r>
            <a:r>
              <a:rPr lang="en-US" sz="31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0000"/>
                </a:solidFill>
                <a:ea typeface="Pretendard SemiBold"/>
              </a:rPr>
              <a:t>분리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74400" y="7086600"/>
            <a:ext cx="6197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학습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: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검증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: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테스트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비율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7:1:2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구성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카메라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ID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기준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분리로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현실적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평가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시간대별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분리로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시간적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일관성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테스트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도메인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일반화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능력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평가용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3314700" cy="317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14700" y="0"/>
            <a:ext cx="14973300" cy="317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9804400"/>
            <a:ext cx="143002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85800" y="825500"/>
            <a:ext cx="170307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모델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학습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최적화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예정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33400" y="2311400"/>
            <a:ext cx="4051300" cy="787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08000" y="3467100"/>
            <a:ext cx="4114800" cy="195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배치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크기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: 16-32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학습률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: 0.001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에폭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: 100-300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옵티마이저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: Adam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가중치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초기화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: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사전학습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모델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3400" y="3098800"/>
            <a:ext cx="4064000" cy="12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673100" y="2476500"/>
            <a:ext cx="37846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학습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파라미터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09100" y="2311400"/>
            <a:ext cx="4051300" cy="787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9283700" y="3467100"/>
            <a:ext cx="4114800" cy="195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드롭아웃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적용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(0.5)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증강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강화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조기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종료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기법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L1/L2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정규화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모델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앙상블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09100" y="3098800"/>
            <a:ext cx="4064000" cy="12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9448800" y="2476500"/>
            <a:ext cx="37846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과적합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방지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690600" y="2311400"/>
            <a:ext cx="4051300" cy="7874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3665200" y="3467100"/>
            <a:ext cx="4114800" cy="195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그리드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서치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방식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베이지안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최적화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학습률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스케줄링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교차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검증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활용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점진적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미세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조정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690600" y="3098800"/>
            <a:ext cx="4064000" cy="12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3830300" y="2476500"/>
            <a:ext cx="37846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파라미터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튜닝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927600" y="2311400"/>
            <a:ext cx="4051300" cy="787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4902200" y="3467100"/>
            <a:ext cx="4114800" cy="195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탐지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: IoU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손실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키포인트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: MSE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손실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Re-ID: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트리플렛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손실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클래스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불균형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보정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가중치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합산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손실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927600" y="3098800"/>
            <a:ext cx="4051300" cy="127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5067300" y="2476500"/>
            <a:ext cx="37846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손실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Medium"/>
              </a:rPr>
              <a:t>함수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927600" y="2311400"/>
            <a:ext cx="4064000" cy="12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3400" y="2311400"/>
            <a:ext cx="4064000" cy="12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09100" y="2311400"/>
            <a:ext cx="4064000" cy="12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690600" y="2311400"/>
            <a:ext cx="4064000" cy="12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927600" y="6159500"/>
            <a:ext cx="4064000" cy="12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3400" y="6146800"/>
            <a:ext cx="4064000" cy="12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09100" y="6134100"/>
            <a:ext cx="4051300" cy="12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690600" y="6159500"/>
            <a:ext cx="4064000" cy="127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98500" y="6642100"/>
            <a:ext cx="16878300" cy="26924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104900" y="7175500"/>
            <a:ext cx="16078200" cy="162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YOLO11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포즈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모델의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학습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과정은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객체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탐지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,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키포인트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추정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,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재식별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특징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추출이라는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세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가지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주요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작업을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동시에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최적화해야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합니다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.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이를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위해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다양한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손실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함수를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조합하고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,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과적합을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방지하기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위한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여러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기법을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적용합니다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.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특히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하이퍼파라미터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튜닝은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모델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성능에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큰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영향을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미치므로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체계적인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접근이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000" b="false" i="false" u="none" strike="noStrike">
                <a:solidFill>
                  <a:srgbClr val="0063BA"/>
                </a:solidFill>
                <a:ea typeface="Pretendard SemiBold"/>
              </a:rPr>
              <a:t>필요합니다</a:t>
            </a:r>
            <a:r>
              <a:rPr lang="en-US" sz="3000" b="false" i="false" u="none" strike="noStrike">
                <a:solidFill>
                  <a:srgbClr val="0063BA"/>
                </a:solidFill>
                <a:latin typeface="Pretendard SemiBold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3314700" cy="317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14700" y="0"/>
            <a:ext cx="14973300" cy="317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9804400"/>
            <a:ext cx="143002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85800" y="825500"/>
            <a:ext cx="170307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성능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평가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분석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48400" y="3073400"/>
            <a:ext cx="11163300" cy="876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27100" y="3073400"/>
            <a:ext cx="5397500" cy="876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231900" y="3251200"/>
            <a:ext cx="48006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정확도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지표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29400" y="3289300"/>
            <a:ext cx="10591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- mAP: 92.3%,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재현율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: 89.7%, F1: 90.9%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48400" y="4368800"/>
            <a:ext cx="11163300" cy="876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27100" y="4368800"/>
            <a:ext cx="5397500" cy="876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231900" y="4546600"/>
            <a:ext cx="48006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처리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속도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29400" y="4584700"/>
            <a:ext cx="10591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- 30FPS(GPU), 15FPS(CPU), 8FPS(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엣지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디바이스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73800" y="5664200"/>
            <a:ext cx="11163300" cy="876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5664200"/>
            <a:ext cx="5397500" cy="8763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257300" y="5829300"/>
            <a:ext cx="48006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강건성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테스트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54800" y="5880100"/>
            <a:ext cx="10591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조명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변화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: -5%,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가림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현상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: -12%,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밀집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: -15%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73800" y="6959600"/>
            <a:ext cx="11163300" cy="876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6959600"/>
            <a:ext cx="5397500" cy="8763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257300" y="7124700"/>
            <a:ext cx="48006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비교</a:t>
            </a:r>
            <a:r>
              <a:rPr lang="en-US" sz="28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분석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54800" y="7175500"/>
            <a:ext cx="10591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- YOLOv8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대비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정확도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+7%,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속도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-3%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차이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73800" y="8255000"/>
            <a:ext cx="11163300" cy="876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" y="8255000"/>
            <a:ext cx="5397500" cy="8763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257300" y="8420100"/>
            <a:ext cx="48006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0063BA"/>
                </a:solidFill>
                <a:ea typeface="Pretendard SemiBold"/>
              </a:rPr>
              <a:t>한계점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54800" y="8470900"/>
            <a:ext cx="105918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극단적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포즈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심한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가림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저해상도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환경에서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성능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저하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314700" y="2476500"/>
            <a:ext cx="14300200" cy="1498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8128000" y="4241800"/>
            <a:ext cx="9525000" cy="1168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출입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통제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이상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행동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감지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실종자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범죄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용의자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식별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여러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카메라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일관된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인물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추적으로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사각지대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최소화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02000" y="4635500"/>
            <a:ext cx="4635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보안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감시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시스템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3314700" cy="317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0"/>
            <a:ext cx="14973300" cy="317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14700" y="1206500"/>
            <a:ext cx="143002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14700" y="2451100"/>
            <a:ext cx="143002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14700" y="3975100"/>
            <a:ext cx="143002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14700" y="5664200"/>
            <a:ext cx="143002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14700" y="9804400"/>
            <a:ext cx="14300200" cy="12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581400" y="2578100"/>
            <a:ext cx="13766800" cy="1257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YOLO11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포즈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모델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기반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다중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사람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추적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재식별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시스템은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다양한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산업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분야에서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활용되고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있습니다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.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특히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보안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소매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스포츠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공공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안전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영역에서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높은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실용성을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보여주고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있으며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,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각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분야별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특화된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최적화를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통해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성능을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향상시킬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수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있습니다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28000" y="5930900"/>
            <a:ext cx="9525000" cy="1168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매장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고객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동선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체류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시간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분석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제품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관심도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측정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구매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패턴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파악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인구통계학적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수집으로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타겟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마케팅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지원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02000" y="6311900"/>
            <a:ext cx="4635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스마트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리테일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14700" y="7340600"/>
            <a:ext cx="14300200" cy="12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8128000" y="7620000"/>
            <a:ext cx="9525000" cy="1168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선수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움직임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포지션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전술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경기력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평가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부상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위험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동작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감지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선수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컨디션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모니터링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02000" y="8001000"/>
            <a:ext cx="4635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스포츠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경기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Medium"/>
              </a:rPr>
              <a:t>분석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14700" y="9042400"/>
            <a:ext cx="14300200" cy="127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698500" y="1244600"/>
            <a:ext cx="2476500" cy="138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실제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응용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사례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3314700" cy="317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14700" y="0"/>
            <a:ext cx="14973300" cy="317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1206500"/>
            <a:ext cx="143002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9804400"/>
            <a:ext cx="143002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98500" y="1244600"/>
            <a:ext cx="2476500" cy="138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시스템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구현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배포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14700" y="2209800"/>
            <a:ext cx="6908800" cy="3187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718800" y="2209800"/>
            <a:ext cx="6908800" cy="3187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657600" y="2552700"/>
            <a:ext cx="62230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100" b="false" i="false" u="none" strike="noStrike">
                <a:solidFill>
                  <a:srgbClr val="0063BA"/>
                </a:solidFill>
                <a:ea typeface="Pretendard SemiBold"/>
              </a:rPr>
              <a:t>하드웨어</a:t>
            </a:r>
            <a:r>
              <a:rPr lang="en-US" sz="31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63BA"/>
                </a:solidFill>
                <a:ea typeface="Pretendard SemiBold"/>
              </a:rPr>
              <a:t>요구사항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70300" y="3441700"/>
            <a:ext cx="6197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GPU: NVIDIA RTX 3060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이상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권장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RAM: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최소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16GB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저장공간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: SSD 500GB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이상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카메라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: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최소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1080p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해상도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, 30fps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61700" y="2552700"/>
            <a:ext cx="62230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100" b="false" i="false" u="none" strike="noStrike">
                <a:solidFill>
                  <a:srgbClr val="0063BA"/>
                </a:solidFill>
                <a:ea typeface="Pretendard SemiBold"/>
              </a:rPr>
              <a:t>엣지</a:t>
            </a:r>
            <a:r>
              <a:rPr lang="en-US" sz="31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63BA"/>
                </a:solidFill>
                <a:ea typeface="Pretendard SemiBold"/>
              </a:rPr>
              <a:t>최적화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74400" y="3441700"/>
            <a:ext cx="6197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모델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양자화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(INT8/FP16)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프루닝으로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모델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경량화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TensorRT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변환으로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추론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가속화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배치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최적화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14700" y="5854700"/>
            <a:ext cx="6908800" cy="3187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18800" y="5854700"/>
            <a:ext cx="6908800" cy="3187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3657600" y="6197600"/>
            <a:ext cx="62230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100" b="false" i="false" u="none" strike="noStrike">
                <a:solidFill>
                  <a:srgbClr val="000000"/>
                </a:solidFill>
                <a:ea typeface="Pretendard SemiBold"/>
              </a:rPr>
              <a:t>클라우드</a:t>
            </a:r>
            <a:r>
              <a:rPr lang="en-US" sz="31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0000"/>
                </a:solidFill>
                <a:ea typeface="Pretendard SemiBold"/>
              </a:rPr>
              <a:t>연동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70300" y="7086600"/>
            <a:ext cx="6197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엣지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클라우드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하이브리드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아키텍처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실시간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동기화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메커니즘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분산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구축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API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인터페이스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61700" y="6197600"/>
            <a:ext cx="62230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100" b="false" i="false" u="none" strike="noStrike">
                <a:solidFill>
                  <a:srgbClr val="000000"/>
                </a:solidFill>
                <a:ea typeface="Pretendard SemiBold"/>
              </a:rPr>
              <a:t>확장성</a:t>
            </a:r>
            <a:r>
              <a:rPr lang="en-US" sz="31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31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3100" b="false" i="false" u="none" strike="noStrike">
                <a:solidFill>
                  <a:srgbClr val="000000"/>
                </a:solidFill>
                <a:ea typeface="Pretendard SemiBold"/>
              </a:rPr>
              <a:t>유지보수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74400" y="7086600"/>
            <a:ext cx="6197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모듈식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설계로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기능별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업데이트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용이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자동화된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모니터링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알림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시스템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정기적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모델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재학습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파이프라인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보안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개인정보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보호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Regular"/>
              </a:rPr>
              <a:t>조치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314700" y="2654300"/>
            <a:ext cx="14300200" cy="610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873500" y="3251200"/>
            <a:ext cx="13195300" cy="853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본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연구에서는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YOLO11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포즈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모델을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활용한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다중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사람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추적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및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재식별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시스템을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개발하고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평가했습니다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.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주요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성과는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다음과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같습니다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:</a:t>
            </a:r>
          </a:p>
          <a:p>
            <a:pPr algn="ctr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-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실시간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처리가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가능한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통합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아키텍처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구현</a:t>
            </a:r>
          </a:p>
          <a:p>
            <a:pPr algn="ctr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-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다양한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환경에서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90%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이상의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높은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정확도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달성</a:t>
            </a:r>
          </a:p>
          <a:p>
            <a:pPr algn="ctr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-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엣지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디바이스에서도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작동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가능한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최적화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기법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적용</a:t>
            </a:r>
          </a:p>
          <a:p>
            <a:pPr algn="ctr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현재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시스템은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극단적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포즈나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심한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가림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상황에서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한계를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보이며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,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향후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연구에서는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자기지도학습과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멀티모달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접근법을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통해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이를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개선할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계획입니다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.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또한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프라이버시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보호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기술과의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결합을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통해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윤리적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활용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방안도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모색할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ko-KR" sz="4000" b="false" i="false" u="none" strike="noStrike">
                <a:solidFill>
                  <a:srgbClr val="0063BA"/>
                </a:solidFill>
                <a:ea typeface="Pretendard SemiBold"/>
              </a:rPr>
              <a:t>것입니다</a:t>
            </a:r>
            <a:r>
              <a:rPr lang="en-US" sz="4000" b="false" i="false" u="none" strike="noStrike">
                <a:solidFill>
                  <a:srgbClr val="0063BA"/>
                </a:solidFill>
                <a:latin typeface="Pretendard SemiBold"/>
              </a:rPr>
              <a:t>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3314700" cy="317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0"/>
            <a:ext cx="14973300" cy="317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14700" y="1206500"/>
            <a:ext cx="143002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14700" y="9804400"/>
            <a:ext cx="14300200" cy="12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698500" y="1244600"/>
            <a:ext cx="2476500" cy="138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결론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및</a:t>
            </a:r>
            <a:r>
              <a:rPr lang="en-US" sz="4200" b="false" i="false" u="none" strike="noStrike">
                <a:solidFill>
                  <a:srgbClr val="0063BA"/>
                </a:solidFill>
                <a:latin typeface="Pretendard Bold"/>
              </a:rPr>
              <a:t> </a:t>
            </a:r>
            <a:r>
              <a:rPr lang="ko-KR" sz="4200" b="false" i="false" u="none" strike="noStrike">
                <a:solidFill>
                  <a:srgbClr val="0063BA"/>
                </a:solidFill>
                <a:ea typeface="Pretendard Bold"/>
              </a:rPr>
              <a:t>전망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